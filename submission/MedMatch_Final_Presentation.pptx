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E"/>
                </a:solidFill>
                <a:latin typeface="Arial"/>
              </a:rPr>
              <a:t>Time to resolve the conflict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time (ms)</c:v>
                </c:pt>
              </c:strCache>
            </c:strRef>
          </c:tx>
          <c:spPr>
            <a:solidFill>
              <a:srgbClr val="C8203B"/>
            </a:solidFill>
            <a:effectLst/>
          </c:spPr>
          <c:invertIfNegative val="0"/>
          <c:dLbls>
            <c:numFmt formatCode="#,##0 &quot;ms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20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7A4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Detection only</c:v>
                  </c:pt>
                  <c:pt idx="1">
                    <c:v>Wait-Die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1418</c:v>
                </c:pt>
                <c:pt idx="1">
                  <c:v>455</c:v>
                </c:pt>
              </c:numCache>
            </c:numRef>
          </c:val>
        </c:ser>
        <c:dLbls>
          <c:numFmt formatCode="#,##0 &quot;ms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0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E"/>
                </a:solidFill>
                <a:latin typeface="Arial"/>
              </a:rPr>
              <a:t>Speed-up vs sequential scan (20,000 rows, median of 7)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Speed-up</c:v>
                </c:pt>
              </c:strCache>
            </c:strRef>
          </c:tx>
          <c:spPr>
            <a:solidFill>
              <a:srgbClr val="C8203B"/>
            </a:solidFill>
            <a:effectLst/>
          </c:spPr>
          <c:invertIfNegative val="0"/>
          <c:dLbls>
            <c:numFmt formatCode="0.0&quot;×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composite B+ tree</c:v>
                  </c:pt>
                  <c:pt idx="1">
                    <c:v>Q2 hash (HLA)</c:v>
                  </c:pt>
                  <c:pt idx="2">
                    <c:v>Q3 partial (O-)</c:v>
                  </c:pt>
                  <c:pt idx="3">
                    <c:v>Q4 join + B+ tree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25.4</c:v>
                </c:pt>
                <c:pt idx="1">
                  <c:v>69.3</c:v>
                </c:pt>
                <c:pt idx="2">
                  <c:v>96.3</c:v>
                </c:pt>
                <c:pt idx="3">
                  <c:v>12.2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520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problem: the last O-negative unit in the region. Stress this is a coordination layer across hospitals, not a hospital management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2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377440"/>
            <a:ext cx="5852160" cy="5852160"/>
          </a:xfrm>
          <a:prstGeom prst="ellipse">
            <a:avLst/>
          </a:prstGeom>
          <a:solidFill>
            <a:srgbClr val="172A44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0"/>
            <a:ext cx="944575" cy="822960"/>
          </a:xfrm>
          <a:prstGeom prst="rect">
            <a:avLst/>
          </a:prstGeom>
          <a:solidFill>
            <a:srgbClr val="C8203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566928"/>
            <a:ext cx="329184" cy="329184"/>
          </a:xfrm>
          <a:prstGeom prst="ellipse">
            <a:avLst/>
          </a:prstGeom>
          <a:solidFill>
            <a:srgbClr val="C8203B"/>
          </a:solidFill>
          <a:ln/>
        </p:spPr>
      </p:sp>
      <p:pic>
        <p:nvPicPr>
          <p:cNvPr id="5" name="Image 0" descr="icons/t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649224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SYSTEMS LAB (BCSE302P)  •  FINAL REVIEW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B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Inter-Hospital Rare Resource Logistics Network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31520" y="315468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C8203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31546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DEMONSTRATION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9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conflict-safe reservation and routing network for scarce blood, antivenom and organ units shared between independent hospitals, built on PostgreSQL and Neo4j.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120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Akshith M  (24BAI0017)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Sanjaay B  (24BCE2181)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Vellore Institute of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ABSTRACT AND PROBLEM STATEMENT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minutes decide outcomes, phone calls are too slow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6766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6276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11680"/>
            <a:ext cx="6217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links the live inventories of independent hospitals so that a rare blood unit, antivenom vial or donor organ can be found, reserved and routed in seconds. A PostgreSQL ledger guarantees that one physical unit can never be promised to two hospitals, using strict two-phase locking with SELECT … FOR UPDATE and Wait-Die deadlock prevention. Composite B+ tree, hash and partial indexes keep the core lookups under a millisecond on 20,000 units, and a Neo4j graph of road and air corridors returns the fastest cold-chain route for every reservation.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2578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hospital management system: no patients or billing, only scarce assets shared between facilities.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89520" y="1417320"/>
            <a:ext cx="40507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1691640"/>
            <a:ext cx="502920" cy="502920"/>
          </a:xfrm>
          <a:prstGeom prst="ellipse">
            <a:avLst/>
          </a:prstGeom>
          <a:solidFill>
            <a:srgbClr val="C8203B"/>
          </a:solidFill>
          <a:ln/>
        </p:spPr>
      </p:sp>
      <p:pic>
        <p:nvPicPr>
          <p:cNvPr id="13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850" y="1817370"/>
            <a:ext cx="251460" cy="25146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503920" y="1645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search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20116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Coordinators phone nearby hospitals one by one while the patient waits.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589520" y="3044952"/>
            <a:ext cx="40507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18120" y="3319272"/>
            <a:ext cx="502920" cy="502920"/>
          </a:xfrm>
          <a:prstGeom prst="ellipse">
            <a:avLst/>
          </a:prstGeom>
          <a:solidFill>
            <a:srgbClr val="C8203B"/>
          </a:solidFill>
          <a:ln/>
        </p:spPr>
      </p:sp>
      <p:pic>
        <p:nvPicPr>
          <p:cNvPr id="18" name="Image 1" descr="icons/w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50" y="3445002"/>
            <a:ext cx="251460" cy="2514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503920" y="32735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promises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63931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stops two hospitals being promised the same last unit at once.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589520" y="4672584"/>
            <a:ext cx="40507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818120" y="4946904"/>
            <a:ext cx="502920" cy="502920"/>
          </a:xfrm>
          <a:prstGeom prst="ellipse">
            <a:avLst/>
          </a:prstGeom>
          <a:solidFill>
            <a:srgbClr val="C8203B"/>
          </a:solidFill>
          <a:ln/>
        </p:spPr>
      </p:sp>
      <p:pic>
        <p:nvPicPr>
          <p:cNvPr id="23" name="Image 2" descr="icons/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850" y="5072634"/>
            <a:ext cx="251460" cy="25146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503920" y="490118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8503920" y="526694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structured record of who requested what, when, and what happened.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OBJECTIVES AND 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MedMatch sets out to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65836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600200"/>
            <a:ext cx="475488" cy="475488"/>
          </a:xfrm>
          <a:prstGeom prst="ellipse">
            <a:avLst/>
          </a:prstGeom>
          <a:solidFill>
            <a:srgbClr val="C8203B"/>
          </a:solidFill>
          <a:ln/>
        </p:spPr>
      </p:sp>
      <p:pic>
        <p:nvPicPr>
          <p:cNvPr id="9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19072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7320" y="15361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discovery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18288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compatible, unexpired units across the network by blood group, HLA type and distance.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368296"/>
            <a:ext cx="65836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9808" y="2551176"/>
            <a:ext cx="475488" cy="475488"/>
          </a:xfrm>
          <a:prstGeom prst="ellipse">
            <a:avLst/>
          </a:prstGeom>
          <a:solidFill>
            <a:srgbClr val="C8203B"/>
          </a:solidFill>
          <a:ln/>
        </p:spPr>
      </p:sp>
      <p:pic>
        <p:nvPicPr>
          <p:cNvPr id="14" name="Image 1" descr="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7004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24871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Conflict-free allocation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417320" y="277977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one hospital wins each unit, even under simultaneous requests.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3319272"/>
            <a:ext cx="65836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49808" y="3502152"/>
            <a:ext cx="475488" cy="475488"/>
          </a:xfrm>
          <a:prstGeom prst="ellipse">
            <a:avLst/>
          </a:prstGeom>
          <a:solidFill>
            <a:srgbClr val="C8203B"/>
          </a:solidFill>
          <a:ln/>
        </p:spPr>
      </p:sp>
      <p:pic>
        <p:nvPicPr>
          <p:cNvPr id="19" name="Image 2" descr="icon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21024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17320" y="343814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safe delivery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417320" y="373075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the quickest route that keeps cold-chain items refrigerated.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270248"/>
            <a:ext cx="65836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4453128"/>
            <a:ext cx="475488" cy="475488"/>
          </a:xfrm>
          <a:prstGeom prst="ellipse">
            <a:avLst/>
          </a:prstGeom>
          <a:solidFill>
            <a:srgbClr val="C8203B"/>
          </a:solidFill>
          <a:ln/>
        </p:spPr>
      </p:sp>
      <p:pic>
        <p:nvPicPr>
          <p:cNvPr id="24" name="Image 3" descr="icons/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72000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17320" y="43891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accountability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417320" y="468172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every state change in an append-only audit log.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5221224"/>
            <a:ext cx="65836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49808" y="5404104"/>
            <a:ext cx="475488" cy="475488"/>
          </a:xfrm>
          <a:prstGeom prst="ellipse">
            <a:avLst/>
          </a:prstGeom>
          <a:solidFill>
            <a:srgbClr val="C8203B"/>
          </a:solidFill>
          <a:ln/>
        </p:spPr>
      </p:sp>
      <p:pic>
        <p:nvPicPr>
          <p:cNvPr id="29" name="Image 4" descr="icons/bo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522976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417320" y="534009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Low-latency queries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1417320" y="563270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core lookups under a millisecond with targeted indexes.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7406640" y="1417320"/>
            <a:ext cx="4233672" cy="2331720"/>
          </a:xfrm>
          <a:prstGeom prst="rect">
            <a:avLst/>
          </a:prstGeom>
          <a:solidFill>
            <a:srgbClr val="DFF1E7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63524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7635240" y="192024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hospitals, 10 asset types, 20,000 units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reserve, dispatch, deliver, cancel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control and audit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and air routing with cold chain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7406640" y="3931920"/>
            <a:ext cx="4233672" cy="2221992"/>
          </a:xfrm>
          <a:prstGeom prst="rect">
            <a:avLst/>
          </a:prstGeom>
          <a:solidFill>
            <a:srgbClr val="FDE5E9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635240" y="4087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7635240" y="4434840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records, billing, ward management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authentication and login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traffic feeds (route times are estimates)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tiers, two databases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1362702"/>
            <a:ext cx="11201400" cy="39497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pic>
        <p:nvPicPr>
          <p:cNvPr id="8" name="Image 0" descr="assets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566"/>
            <a:ext cx="11091672" cy="38399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486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7607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dashboard and psql / demo.sh scripts talk to the system over HTTP and SQL.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5486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tier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297680" y="57607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coordinates the Wait-Die lock manager, the reservation transaction and the route finder.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5486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57607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is the source of truth; Neo4j holds a synced copy of the transport network for routing.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WORKFLOW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of one reservation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700784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783080"/>
            <a:ext cx="457200" cy="457200"/>
          </a:xfrm>
          <a:prstGeom prst="ellipse">
            <a:avLst/>
          </a:prstGeom>
          <a:solidFill>
            <a:srgbClr val="C820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7432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fn_search_assets returns compatible, unexpired units, nearest first.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67712" y="2743200"/>
            <a:ext cx="128016" cy="219456"/>
          </a:xfrm>
          <a:prstGeom prst="rightTriangle">
            <a:avLst/>
          </a:prstGeom>
          <a:solidFill>
            <a:srgbClr val="D6DCE5"/>
          </a:solidFill>
          <a:ln/>
        </p:spPr>
      </p:sp>
      <p:sp>
        <p:nvSpPr>
          <p:cNvPr id="13" name="Shape 11"/>
          <p:cNvSpPr/>
          <p:nvPr/>
        </p:nvSpPr>
        <p:spPr>
          <a:xfrm>
            <a:off x="2423160" y="1600200"/>
            <a:ext cx="1700784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87752" y="1783080"/>
            <a:ext cx="457200" cy="457200"/>
          </a:xfrm>
          <a:prstGeom prst="ellipse">
            <a:avLst/>
          </a:prstGeom>
          <a:solidFill>
            <a:srgbClr val="C820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8775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587752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587752" y="27432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Wait-Die grants an exclusive lock; a younger conflicting request dies and retries.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42232" y="2743200"/>
            <a:ext cx="128016" cy="219456"/>
          </a:xfrm>
          <a:prstGeom prst="rightTriangle">
            <a:avLst/>
          </a:prstGeom>
          <a:solidFill>
            <a:srgbClr val="D6DCE5"/>
          </a:solidFill>
          <a:ln/>
        </p:spPr>
      </p:sp>
      <p:sp>
        <p:nvSpPr>
          <p:cNvPr id="19" name="Shape 17"/>
          <p:cNvSpPr/>
          <p:nvPr/>
        </p:nvSpPr>
        <p:spPr>
          <a:xfrm>
            <a:off x="4297680" y="1600200"/>
            <a:ext cx="1700784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62272" y="1783080"/>
            <a:ext cx="457200" cy="457200"/>
          </a:xfrm>
          <a:prstGeom prst="ellipse">
            <a:avLst/>
          </a:prstGeom>
          <a:solidFill>
            <a:srgbClr val="C820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6227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462272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462272" y="27432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BEGIN; SELECT … FOR UPDATE; re-check status and expiry under the lock.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16752" y="2743200"/>
            <a:ext cx="128016" cy="219456"/>
          </a:xfrm>
          <a:prstGeom prst="rightTriangle">
            <a:avLst/>
          </a:prstGeom>
          <a:solidFill>
            <a:srgbClr val="D6DCE5"/>
          </a:solidFill>
          <a:ln/>
        </p:spPr>
      </p:sp>
      <p:sp>
        <p:nvSpPr>
          <p:cNvPr id="25" name="Shape 23"/>
          <p:cNvSpPr/>
          <p:nvPr/>
        </p:nvSpPr>
        <p:spPr>
          <a:xfrm>
            <a:off x="6172200" y="1600200"/>
            <a:ext cx="1700784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36792" y="1783080"/>
            <a:ext cx="457200" cy="457200"/>
          </a:xfrm>
          <a:prstGeom prst="ellipse">
            <a:avLst/>
          </a:prstGeom>
          <a:solidFill>
            <a:srgbClr val="C8203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367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336792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336792" y="27432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→ RESERVED, request and transfer rows inserted; trigger writes the audit row.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891272" y="2743200"/>
            <a:ext cx="128016" cy="219456"/>
          </a:xfrm>
          <a:prstGeom prst="rightTriangle">
            <a:avLst/>
          </a:prstGeom>
          <a:solidFill>
            <a:srgbClr val="D6DCE5"/>
          </a:solidFill>
          <a:ln/>
        </p:spPr>
      </p:sp>
      <p:sp>
        <p:nvSpPr>
          <p:cNvPr id="31" name="Shape 29"/>
          <p:cNvSpPr/>
          <p:nvPr/>
        </p:nvSpPr>
        <p:spPr>
          <a:xfrm>
            <a:off x="8046720" y="1600200"/>
            <a:ext cx="1700784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11312" y="1783080"/>
            <a:ext cx="457200" cy="457200"/>
          </a:xfrm>
          <a:prstGeom prst="ellipse">
            <a:avLst/>
          </a:prstGeom>
          <a:solidFill>
            <a:srgbClr val="C8203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1131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211312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211312" y="27432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Dijkstra on ROUTE_TO or COLD_ROUTE gives the fastest safe path.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765792" y="2743200"/>
            <a:ext cx="128016" cy="219456"/>
          </a:xfrm>
          <a:prstGeom prst="rightTriangle">
            <a:avLst/>
          </a:prstGeom>
          <a:solidFill>
            <a:srgbClr val="D6DCE5"/>
          </a:solidFill>
          <a:ln/>
        </p:spPr>
      </p:sp>
      <p:sp>
        <p:nvSpPr>
          <p:cNvPr id="37" name="Shape 35"/>
          <p:cNvSpPr/>
          <p:nvPr/>
        </p:nvSpPr>
        <p:spPr>
          <a:xfrm>
            <a:off x="9921240" y="1600200"/>
            <a:ext cx="1700784" cy="2514600"/>
          </a:xfrm>
          <a:prstGeom prst="rect">
            <a:avLst/>
          </a:prstGeom>
          <a:solidFill>
            <a:srgbClr val="0D1B2E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85832" y="1783080"/>
            <a:ext cx="457200" cy="457200"/>
          </a:xfrm>
          <a:prstGeom prst="ellipse">
            <a:avLst/>
          </a:prstGeom>
          <a:solidFill>
            <a:srgbClr val="C8203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08583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10085832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10085832" y="27432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releases every lock at once (strict 2PL).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4389120"/>
            <a:ext cx="1109167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7240" y="4553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reservation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7724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ALLOCATED</a:t>
            </a:r>
            <a:pPr indent="0" marL="0">
              <a:buNone/>
            </a:pPr>
            <a:r>
              <a:rPr lang="en-US" sz="13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sp_dispatch_transfer  →  </a:t>
            </a:r>
            <a:pPr indent="0" marL="0">
              <a:buNone/>
            </a:pPr>
            <a:r>
              <a:rPr lang="en-US" sz="1300" b="1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IN_TRANSIT</a:t>
            </a:r>
            <a:pPr indent="0" marL="0">
              <a:buNone/>
            </a:pPr>
            <a:r>
              <a:rPr lang="en-US" sz="13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sp_complete_transfer  →  </a:t>
            </a:r>
            <a:pPr indent="0" marL="0">
              <a:buNone/>
            </a:pPr>
            <a:r>
              <a:rPr lang="en-US" sz="1300" b="1" dirty="0">
                <a:solidFill>
                  <a:srgbClr val="1F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pPr indent="0" marL="0">
              <a:buNone/>
            </a:pPr>
            <a:r>
              <a:rPr lang="en-US" sz="13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(ownership moves to the requesting hospital)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777240" y="5440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sp_cancel_transfer returns the unit to AVAILABLE. Triggers enforce these transitions and log each one.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ER DIAGRAM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and relationships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20659" y="1271016"/>
            <a:ext cx="7519802" cy="5047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pic>
        <p:nvPicPr>
          <p:cNvPr id="8" name="Image 0" descr="assets/er_orig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523" y="1325880"/>
            <a:ext cx="7410074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0" y="1325880"/>
            <a:ext cx="2953512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1540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entities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915400" y="19202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Asset_Types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Emergency_Assets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Asset_Attributes (weak, 1:N)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Requesting_Hospitals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Transfer_Transactions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Audit_Logs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Transport_Network_Graph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51206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relate to Transfer_Transactions twice: once as requester, once as supplier.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RELATIONAL SCHEMA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tables, thirteen foreign keys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02989" y="1271016"/>
            <a:ext cx="5880821" cy="5093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pic>
        <p:nvPicPr>
          <p:cNvPr id="8" name="Image 0" descr="assets/sch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7853" y="1325880"/>
            <a:ext cx="5771093" cy="4983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0" y="1325880"/>
            <a:ext cx="3227832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41080" y="1508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diagram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1920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primary key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3B6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FK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foreign key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Crow's foot = many, bar = one.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641080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choices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333756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Surrogate keys; natural codes kept UNIQUE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FKs from transfers to hospitals (requester, supplier)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stored relationally, synced to Neo4j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rows reference both transfer and asset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NORMALIZATION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 wide table to 3NF / BCNF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50292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asset_type_id  →  { category, storage_temp_min_c, storage_temp_max_c, shelf_life_days, requires_cold_chain }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167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291840"/>
                <a:gridCol w="67939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MedMatch meets 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1NF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Atomic values, no repeating groups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Latitude and longitude are separate columns; extra properties live as rows in asset_attributes, not as lists.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2NF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partial dependency on part of a key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table has a single-column surrogate key, so partial dependencies cannot arise.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3NF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transitive dependency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attributes moved to asset_types; hospital profile fields live only in hospitals.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BCNF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determinant is a candidate key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determinant is the table's id or a UNIQUE natural key (asset_code, hospital_code, email).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166360"/>
            <a:ext cx="11091672" cy="1005840"/>
          </a:xfrm>
          <a:prstGeom prst="rect">
            <a:avLst/>
          </a:prstGeom>
          <a:solidFill>
            <a:srgbClr val="FDE5E9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5285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avoided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5778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shelf life were stored on every unit, changing it for O-negative Packed Red Cells would mean rewriting thousands of rows (update anomaly), and a new asset type could not exist before its first unit (insertion anomaly).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DATABASE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DBMS, tools and table definitions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9319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691640"/>
            <a:ext cx="502920" cy="502920"/>
          </a:xfrm>
          <a:prstGeom prst="ellipse">
            <a:avLst/>
          </a:prstGeom>
          <a:solidFill>
            <a:srgbClr val="0D1B2E"/>
          </a:solidFill>
          <a:ln/>
        </p:spPr>
      </p:sp>
      <p:pic>
        <p:nvPicPr>
          <p:cNvPr id="9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" y="181737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7320" y="16002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core: tables, PL/pgSQL, indexes, row locking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606040"/>
            <a:ext cx="39319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9808" y="2880360"/>
            <a:ext cx="502920" cy="502920"/>
          </a:xfrm>
          <a:prstGeom prst="ellipse">
            <a:avLst/>
          </a:prstGeom>
          <a:solidFill>
            <a:srgbClr val="0D1B2E"/>
          </a:solidFill>
          <a:ln/>
        </p:spPr>
      </p:sp>
      <p:pic>
        <p:nvPicPr>
          <p:cNvPr id="14" name="Image 1" descr="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38" y="300609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27889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5 + APOC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417320" y="3108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of hospitals and routes; Dijkstra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3794760"/>
            <a:ext cx="39319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49808" y="4069080"/>
            <a:ext cx="502920" cy="502920"/>
          </a:xfrm>
          <a:prstGeom prst="ellipse">
            <a:avLst/>
          </a:prstGeom>
          <a:solidFill>
            <a:srgbClr val="0D1B2E"/>
          </a:solidFill>
          <a:ln/>
        </p:spPr>
      </p:sp>
      <p:pic>
        <p:nvPicPr>
          <p:cNvPr id="19" name="Image 2" descr="icons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" y="419481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17320" y="39776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 · FastAPI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417320" y="4297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API, lock manager, psycopg 3, NetworkX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983480"/>
            <a:ext cx="39319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5257800"/>
            <a:ext cx="502920" cy="502920"/>
          </a:xfrm>
          <a:prstGeom prst="ellipse">
            <a:avLst/>
          </a:prstGeom>
          <a:solidFill>
            <a:srgbClr val="0D1B2E"/>
          </a:solidFill>
          <a:ln/>
        </p:spPr>
      </p:sp>
      <p:pic>
        <p:nvPicPr>
          <p:cNvPr id="24" name="Image 3" descr="icons/lay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38" y="5383530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17320" y="51663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417320" y="5486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both databases with one command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709160" y="1417320"/>
            <a:ext cx="6931152" cy="475488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4892040" y="1554480"/>
            <a:ext cx="65653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emergency_assets 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asset_id      BIGSERIAL    PRIMARY KEY,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asset_code    VARCHAR(20)  NOT NULL UNIQUE,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asset_name    VARCHAR(100) NOT NULL,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asset_type_id INT NOT NULL REFERENCES asset_types(asset_type_id),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hospital_id   INT NOT NULL REFERENCES hospitals(hospital_id),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blood_group   VARCHAR(3)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(blood_group IN ('O-','O+','A-','A+','B-','B+','AB-','AB+')),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hla_type      VARCHAR(40),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collected_at  TIMESTAMPTZ NOT NULL DEFAULT now(),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expiry_date   TIMESTAMPTZ NOT NULL,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    VARCHAR(12) NOT NULL DEFAULT 'AVAILABLE'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(status IN ('AVAILABLE','RESERVED','IN_TRANSIT',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'DELIVERED','EXPIRED','DISCARDED')),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version       INT NOT NULL DEFAULT 1,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 (expiry_date &gt; collected_at)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CONSTRAINTS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the database enforces on its 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6692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960120"/>
                <a:gridCol w="3108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Constraint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KEY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hospital_id, asset_id, transaction_id, log_id 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FOREIGN KEY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emergency_assets.hospital_id → hospitals; transfer_transactions.supplying_hospital_id → hospitals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asset_code, hospital_code, hospitals.email, (from, to, transport_type) on routes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NULL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 columns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names, codes, coordinates, timestamps, 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blood group values, status values, email format, latitude range, expiry &gt; collected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UNIQUE index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uq_one_active_claim_per_asset: at most one live claim per unit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assets/term_trigger_re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325880"/>
            <a:ext cx="5239512" cy="19489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0" y="336629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output: the database rejects four invalid changes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SAMPLE RECORDS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statements and the data they create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pic>
        <p:nvPicPr>
          <p:cNvPr id="7" name="Image 0" descr="assets/term_insert_hospi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2041614"/>
          </a:xfrm>
          <a:prstGeom prst="rect">
            <a:avLst/>
          </a:prstGeom>
        </p:spPr>
      </p:pic>
      <p:pic>
        <p:nvPicPr>
          <p:cNvPr id="8" name="Image 1" descr="assets/term_insert_ass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86200"/>
            <a:ext cx="5486400" cy="2041614"/>
          </a:xfrm>
          <a:prstGeom prst="rect">
            <a:avLst/>
          </a:prstGeom>
        </p:spPr>
      </p:pic>
      <p:pic>
        <p:nvPicPr>
          <p:cNvPr id="9" name="Image 2" descr="assets/term_select_hospita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71600"/>
            <a:ext cx="5376672" cy="166377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263640" y="4343400"/>
            <a:ext cx="537667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492240" y="4498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data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492240" y="482803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hospitals, 10 asset types, 112 route edges, </a:t>
            </a:r>
            <a:pPr indent="0" marL="0">
              <a:buNone/>
            </a:pPr>
            <a:r>
              <a:rPr lang="en-US" sz="1200" b="1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inventory units</a:t>
            </a:r>
            <a:pPr indent="0" marL="0">
              <a:buNone/>
            </a:pPr>
            <a:r>
              <a:rPr lang="en-US" sz="12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bulk-loaded with COPY in about 1 second. Blood groups follow an approximate Indian distribution, so O-negative is about 1.5% of stock.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SQL QUERIES AND OUTPUTS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and aggregation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pic>
        <p:nvPicPr>
          <p:cNvPr id="7" name="Image 0" descr="assets/term_j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627723" cy="3200400"/>
          </a:xfrm>
          <a:prstGeom prst="rect">
            <a:avLst/>
          </a:prstGeom>
        </p:spPr>
      </p:pic>
      <p:pic>
        <p:nvPicPr>
          <p:cNvPr id="8" name="Image 1" descr="assets/term_aggreg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0"/>
            <a:ext cx="4055103" cy="1691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75320" y="1325880"/>
            <a:ext cx="3364992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0392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5-table JOIN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503920" y="1810512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transfer joined to its asset, the asset type, and the hospitals table twice: once as supplier (s), once as requester (r).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8503920" y="3429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+ aggregates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3758184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COUNT, COUNT(DISTINCT) and AVG summarise available stock per category. Organs average 3.6 days of life left, antivenom about a year.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SQL QUERIES AND OUTPUTS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Subqueries, HAVING, UPDATE and DELETE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pic>
        <p:nvPicPr>
          <p:cNvPr id="7" name="Image 0" descr="assets/term_subqu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760720" cy="2380463"/>
          </a:xfrm>
          <a:prstGeom prst="rect">
            <a:avLst/>
          </a:prstGeom>
        </p:spPr>
      </p:pic>
      <p:pic>
        <p:nvPicPr>
          <p:cNvPr id="8" name="Image 1" descr="assets/term_groupby_hav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148072" cy="2614360"/>
          </a:xfrm>
          <a:prstGeom prst="rect">
            <a:avLst/>
          </a:prstGeom>
        </p:spPr>
      </p:pic>
      <p:pic>
        <p:nvPicPr>
          <p:cNvPr id="9" name="Image 2" descr="assets/term_upd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17720"/>
            <a:ext cx="4944824" cy="1645920"/>
          </a:xfrm>
          <a:prstGeom prst="rect">
            <a:avLst/>
          </a:prstGeom>
        </p:spPr>
      </p:pic>
      <p:pic>
        <p:nvPicPr>
          <p:cNvPr id="10" name="Image 3" descr="assets/term_dele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617720"/>
            <a:ext cx="5148072" cy="9928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ADVANCED CONCEPTS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and stored procedures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pic>
        <p:nvPicPr>
          <p:cNvPr id="7" name="Image 0" descr="assets/term_function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583680" cy="2075042"/>
          </a:xfrm>
          <a:prstGeom prst="rect">
            <a:avLst/>
          </a:prstGeom>
        </p:spPr>
      </p:pic>
      <p:pic>
        <p:nvPicPr>
          <p:cNvPr id="8" name="Image 1" descr="assets/term_proced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43400"/>
            <a:ext cx="4596938" cy="19202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60920" y="1371600"/>
            <a:ext cx="4279392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589520" y="1536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589520" y="18745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fn_search_assets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units, nearest first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blood_compatible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 / Rh donor-recipient rule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haversine_km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between coordinates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fn_expire_assets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 stale stock EXPIRED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589520" y="46634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sp_dispatch_transfer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sp_complete_transfer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sp_cancel_transfer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locks the rows it changes with FOR UPDATE.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ADVANCED CONCEPTS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triggers guard every state change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035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2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trg_asset_guard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UPDATE · emergency_assets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783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status transitions only; blocks reserving expired stock; bumps version.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6035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441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2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trg_txn_state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459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UPDATE · transfer_transactions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76148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 REQUESTED → ALLOCATED → IN_TRANSIT → COMPLETED / CANCELLED.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28416"/>
            <a:ext cx="6035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419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2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trg_txn_audit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438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INSERT/UPDATE · transfer_transactions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373989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an audit row for every creation and status change.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306824"/>
            <a:ext cx="6035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398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2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trg_audit_immutable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416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UPDATE/DELETE · audit_logs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71830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the audit log append-only.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285232"/>
            <a:ext cx="6035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376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2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trg_route_touch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5394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change · routes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69671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the network's last_updated timestamp.</a:t>
            </a:r>
            <a:endParaRPr lang="en-US" sz="1150" dirty="0"/>
          </a:p>
        </p:txBody>
      </p:sp>
      <p:pic>
        <p:nvPicPr>
          <p:cNvPr id="27" name="Image 0" descr="assets/term_trigger_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371600"/>
            <a:ext cx="4828032" cy="1778427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6812280" y="3241467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rows written by trg_txn_audit for transfers 1, 4 and 7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ADVANCED CONCEPTS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pic>
        <p:nvPicPr>
          <p:cNvPr id="7" name="Image 0" descr="assets/term_view_inven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898341" cy="2194560"/>
          </a:xfrm>
          <a:prstGeom prst="rect">
            <a:avLst/>
          </a:prstGeom>
        </p:spPr>
      </p:pic>
      <p:pic>
        <p:nvPicPr>
          <p:cNvPr id="8" name="Image 1" descr="assets/term_view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03320"/>
            <a:ext cx="81666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TRANSACTION CONTROL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COMMIT, ROLLBACK and SAVEPOINT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pic>
        <p:nvPicPr>
          <p:cNvPr id="7" name="Image 0" descr="assets/term_txn_com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120640" cy="2340047"/>
          </a:xfrm>
          <a:prstGeom prst="rect">
            <a:avLst/>
          </a:prstGeom>
        </p:spPr>
      </p:pic>
      <p:pic>
        <p:nvPicPr>
          <p:cNvPr id="8" name="Image 1" descr="assets/term_txn_rollb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742432" cy="35008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5349240"/>
            <a:ext cx="5120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54681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made the reservation permanent: status RESERVED, version bumped to 2.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897880" y="5669280"/>
            <a:ext cx="574243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080760" y="57607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TO SAVEPOINT undid only the second update; ROLLBACK undid the rest.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CONCURRENCY CONTROL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hospitals, one unit, one winner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pic>
        <p:nvPicPr>
          <p:cNvPr id="7" name="Image 0" descr="assets/term_con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0" cy="2339163"/>
          </a:xfrm>
          <a:prstGeom prst="rect">
            <a:avLst/>
          </a:prstGeom>
        </p:spPr>
      </p:pic>
      <p:pic>
        <p:nvPicPr>
          <p:cNvPr id="8" name="Image 1" descr="assets/term_con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0"/>
            <a:ext cx="6400800" cy="210873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78040" y="1371600"/>
            <a:ext cx="446227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06640" y="1508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two-phase locking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406640" y="182880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 are taken with SELECT … FOR UPDATE and held until COMMIT. The second hospital re-reads the row only after the first commits, sees RESERVED, and is turned away. Without locking, both read AVAILABLE and both believed they won: a lost update.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4160520"/>
          <a:ext cx="44622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08176"/>
                <a:gridCol w="140817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Held ╲ Requested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Exclusive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20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Conflict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Exclusive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20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Conflict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20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Conflict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7178040" y="5440680"/>
            <a:ext cx="4462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test: 15 hospitals reserved the same unit at once — 1 succeeded, 14 were rejected cleanly.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CONCURRENCY CONTROL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Deadlock: detection vs Wait-Die prevention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pic>
        <p:nvPicPr>
          <p:cNvPr id="7" name="Image 0" descr="assets/term_con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0" cy="2024601"/>
          </a:xfrm>
          <a:prstGeom prst="rect">
            <a:avLst/>
          </a:prstGeom>
        </p:spPr>
      </p:pic>
      <p:pic>
        <p:nvPicPr>
          <p:cNvPr id="8" name="Image 1" descr="assets/term_conc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0"/>
            <a:ext cx="6400800" cy="2237568"/>
          </a:xfrm>
          <a:prstGeom prst="rect">
            <a:avLst/>
          </a:prstGeom>
        </p:spPr>
      </p:pic>
      <p:graphicFrame>
        <p:nvGraphicFramePr>
          <p:cNvPr id="9" name="Chart 0" descr=""/>
          <p:cNvGraphicFramePr/>
          <p:nvPr/>
        </p:nvGraphicFramePr>
        <p:xfrm>
          <a:off x="7178040" y="1371600"/>
          <a:ext cx="4462272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7178040" y="4206240"/>
            <a:ext cx="4462272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406640" y="4343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Wait-Die rule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7406640" y="4681728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requester → WAIT.  </a:t>
            </a:r>
            <a:pPr indent="0" marL="0">
              <a:buNone/>
            </a:pPr>
            <a:r>
              <a:rPr lang="en-US" sz="1150" b="1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Younger requester → DIE</a:t>
            </a:r>
            <a:pPr indent="0" marL="0">
              <a:buNone/>
            </a:pPr>
            <a:r>
              <a:rPr lang="en-US" sz="115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restart with its original timestamp. Waits only go old → young, so no cycle can form. PostgreSQL alone waits deadlock_timeout (1 s) before killing a victim.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INDEXING AND QUERY OPTIMIZATION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index types, up to 96× faster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371600"/>
          <a:ext cx="5760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5760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40280"/>
                <a:gridCol w="1508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idx_asset_lookup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B+ tree (type, expiry, status)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search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idx_asset_hla_hash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 (hla_type)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tissue match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idx_asset_available_blood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B+ tree, AVAILABLE 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rare-group lookup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assets/term_expl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71600"/>
            <a:ext cx="5102352" cy="149675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537960" y="3977640"/>
            <a:ext cx="5102352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766560" y="4114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 (Q4)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766560" y="4434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20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code, name ( σ type=2 ∧ group='O-' ∧ status='AVAILABLE' ∧ expiry&gt;now() (ASSETS) ⋈ HOSPITALS )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766560" y="52120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Heuristic: push selections below the join, so only matching units are joined. The partial index is already sorted by expiry, so ORDER BY needs no sort step.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NOSQL GRAPH DATABASE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in Neo4j, with cold-chain awareness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1333881"/>
            <a:ext cx="6510528" cy="400735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pic>
        <p:nvPicPr>
          <p:cNvPr id="8" name="Image 0" descr="assets/app_map_c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8745"/>
            <a:ext cx="6400800" cy="389763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78040" y="1371600"/>
            <a:ext cx="4462272" cy="201168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60920" y="1508760"/>
            <a:ext cx="4096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(a:Hospital {code:'RNP01'}),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(b:Hospital {code:'KNC01'})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apoc.algo.dijkstra(a, b,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'COLD_ROUTE&gt;', 'eta_minutes')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path, weight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[n IN nodes(path) | n.code], weight;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3566160"/>
          <a:ext cx="44622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947672"/>
                <a:gridCol w="868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Ranipet → Kanchipuram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(ROUTE_TO)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road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 min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20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Cold chain (COLD_ROUTE)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via Vellore Regional Blood Centre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 min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178040" y="4800600"/>
            <a:ext cx="4462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Nodes: 16 (:Hospital). Edges: 112 [:ROUTE_TO] weighted by eta_minutes; refrigerated legs also copied as [:COLD_ROUTE]. Blood, plasma and organs use cold routes; platelets and anti-snake venom use normal ones.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440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cold-chain route highlighted in red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APPLICATION DEMONSTRATION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Find, reserve and track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1918716"/>
            <a:ext cx="5596128" cy="3386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pic>
        <p:nvPicPr>
          <p:cNvPr id="8" name="Image 0" descr="assets/app_fi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73580"/>
            <a:ext cx="5486400" cy="3276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3873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and reserve: compatible O-negative units, soonest-expiring first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99048" y="1918716"/>
            <a:ext cx="5596128" cy="3386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pic>
        <p:nvPicPr>
          <p:cNvPr id="11" name="Image 1" descr="assets/app_transf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973580"/>
            <a:ext cx="5486400" cy="3276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153912" y="53873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Transfers: route, ETA and status; dispatch, deliver or cancel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APPLICATION DEMONSTRATION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lab and audit trail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1918716"/>
            <a:ext cx="5596128" cy="3386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pic>
        <p:nvPicPr>
          <p:cNvPr id="8" name="Image 0" descr="assets/app_lab_dead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73580"/>
            <a:ext cx="5486400" cy="3276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3873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lab: Wait-Die run, timeline per transaction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99048" y="1918716"/>
            <a:ext cx="5596128" cy="3386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pic>
        <p:nvPicPr>
          <p:cNvPr id="11" name="Image 1" descr="assets/app_au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973580"/>
            <a:ext cx="5486400" cy="3276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153912" y="53873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written by triggers; the table rejects edits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· TESTING AND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test passed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14600"/>
                <a:gridCol w="4279392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hospitals reserve one unit at once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Exactly 1 succeeds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succeeded, 14 rejected (HTTP 409)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Race without locking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Lost update reproduced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read AVAILABLE; both believed they won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Race with 2PL + Wait-Die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winner, no lost update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 re-read RESERVED and was rejected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Opposite-order bundle, detection 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kills a victim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Deadlock detected after ~1.4 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workload with Wait-Die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deadlock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Younger died and restarted; done in ~0.45 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 an expired unit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trg_asset_guard raised an error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DELIVERED → AVAILABLE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Illegal transition error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 an audit row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Append-only error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Invalid hospital email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hospitals_email_check violated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Cancel a transfer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back in pool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Transfer CANCELLED, unit AVAILABLE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Cold-chain routing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non-refrigerated legs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 min cold vs 76 min normal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Indexed search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Faster than sequential scan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12× – 96× faster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CONCLUSION AND FUTURE ENHANCEMENT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built, and what comes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0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36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6596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inter-hospital reservation network on PostgreSQL and Neo4j.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double allocation: strict 2PL with SELECT … FOR UPDATE, verified under 15-way contention.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Deadlocks prevented by Wait-Die, about 3× faster than detection.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lookups in well under a millisecond (12–96× faster than full scans).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state change logged by triggers in an append-only audit table.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cold-chain-safe routes from graph pathfinding.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376672" cy="4800600"/>
          </a:xfrm>
          <a:prstGeom prst="rect">
            <a:avLst/>
          </a:prstGeom>
          <a:solidFill>
            <a:srgbClr val="0D1B2E"/>
          </a:solidFill>
          <a:ln w="9525">
            <a:solidFill>
              <a:srgbClr val="D6DC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96596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B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and per-hospital access control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B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traffic and weather feeding route weights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B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Database-backed lock manager (advisory locks) for multiple app servers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B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to the supplying hospital and courier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B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forecasting to pre-position rare stock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B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for transport crews with live tracking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2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D6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MedMatch — Rare Resource Logistics Network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73952"/>
            <a:ext cx="484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Silberschatz, H. F. Korth, S. Sudarshan, Database System Concepts, 7th ed., McGraw-Hill, 2019 (Ch. 18: concurrency control, Wait-Die).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Elmasri, S. B. Navathe, Fundamentals of Database Systems, 7th ed., Pearson, 2016 (normalization, indexing).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Documentation — Explicit Locking, Index Types, Triggers, PL/pgSQL. postgresql.org/docs/16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Documentation — Transaction Isolation and Deadlocks. postgresql.org/docs/16/transaction-iso.html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Cypher Manual. neo4j.com/docs/cypher-manual/current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APOC Documentation — apoc.algo.dijkstra. neo4j.com/docs/apoc/current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Documentation. fastapi.tiangolo.com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Psycopg 3 Documentation. psycopg.org/psycopg3/docs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5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 Documentation — Shortest Paths (Dijkstra). networkx.org/documentation/stable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474720"/>
            <a:ext cx="5669280" cy="5669280"/>
          </a:xfrm>
          <a:prstGeom prst="ellipse">
            <a:avLst/>
          </a:prstGeom>
          <a:solidFill>
            <a:srgbClr val="172A44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0"/>
            <a:ext cx="944575" cy="822960"/>
          </a:xfrm>
          <a:prstGeom prst="rect">
            <a:avLst/>
          </a:prstGeom>
          <a:solidFill>
            <a:srgbClr val="C820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37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live demonstration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Akshith M (24BAI0017)   •   Sanjaay B (24BCE2181)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MedMatch — Final Review</dc:title>
  <dc:subject>PptxGenJS Presentation</dc:subject>
  <dc:creator>Akshith M, Sanjaay B</dc:creator>
  <cp:lastModifiedBy>Akshith M, Sanjaay B</cp:lastModifiedBy>
  <cp:revision>1</cp:revision>
  <dcterms:created xsi:type="dcterms:W3CDTF">2026-10-20T15:44:40Z</dcterms:created>
  <dcterms:modified xsi:type="dcterms:W3CDTF">2026-10-20T15:44:40Z</dcterms:modified>
</cp:coreProperties>
</file>